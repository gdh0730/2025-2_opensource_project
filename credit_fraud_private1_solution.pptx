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0" r:id="rId9"/>
    <p:sldId id="271" r:id="rId10"/>
    <p:sldId id="262" r:id="rId11"/>
    <p:sldId id="272" r:id="rId12"/>
    <p:sldId id="263" r:id="rId13"/>
    <p:sldId id="273" r:id="rId14"/>
    <p:sldId id="264" r:id="rId15"/>
    <p:sldId id="275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06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113842</c:v>
                </c:pt>
                <c:pt idx="1">
                  <c:v>28462</c:v>
                </c:pt>
                <c:pt idx="2">
                  <c:v>142503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0-4BFC-BCCC-79B9E66103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76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요약: 비지도 이상탐지 문제를 Macro F1 관점에서 설계했다.
[Sources]
- https://dacon.io/competitions/official/235930/data
- https://scikit-learn.org/stable/modules/generated/sklearn.ensemble.IsolationForest.html
- https://jmlr.org/papers/volume22/20-1061/20-1061.pdf
- https://scikit-learn.org/stable/auto_examples/decomposition/plot_kernel_pca.html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포인트: Macro F1 때문에 FP(정상→사기)가 제일 무섭다. 그래서 후처리로 가짜 outlier 제거가 핵심이 된다.
[Sources]
- https://dacon.io/competitions/official/235930/data
- https://dacon.io/competitions/official/235930/talkboard/406456
- https://scikit-learn.org/stable/modules/generated/sklearn.metrics.f1_score.html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https://dacon.io/competitions/official/235930/data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https://scikit-learn.org/stable/modules/generated/sklearn.metrics.f1_score.html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포인트: 단계별로 목적이 다르다. 1~2단계는 recall(후보 생성), 3단계는 precision(오탐 제거).
[Sources]
- https://github.com/YingfanWang/PaCMAP
- https://scikit-learn.org/stable/modules/generated/sklearn.ensemble.IsolationForest.html
- https://scikit-learn.org/stable/modules/generated/sklearn.decomposition.KernelPCA.html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포인트: Macro F1 때문에 FP(정상→사기)가 제일 무섭다. 그래서 후처리로 가짜 outlier 제거가 핵심이 된다.
[Sources]
- https://dacon.io/competitions/official/235930/data
- https://dacon.io/competitions/official/235930/talkboard/406456
- https://scikit-learn.org/stable/modules/generated/sklearn.metrics.f1_score.html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15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https://dacon.io/competitions/official/235930/data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https://dacon.io/competitions/official/235930/data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04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https://dacon.io/competitions/official/235930/data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1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https://jmlr.org/papers/volume22/20-1061/20-1061.pdf
- https://github.com/YingfanWang/PaCMAP
- https://scikit-learn.org/stable/modules/generated/sklearn.ensemble.IsolationForest.html
- https://www.lamda.nju.edu.cn/publication/icdm08b.pdf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https://jmlr.org/papers/volume22/20-1061/20-1061.pdf
- https://github.com/YingfanWang/PaCMAP
- https://scikit-learn.org/stable/modules/generated/sklearn.ensemble.IsolationForest.html
- https://www.lamda.nju.edu.cn/publication/icdm08b.pdf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2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https://scikit-learn.org/stable/modules/generated/sklearn.ensemble.IsolationForest.html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https://scikit-learn.org/stable/modules/generated/sklearn.ensemble.IsolationForest.html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76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https://scikit-learn.org/stable/modules/generated/sklearn.decomposition.KernelPCA.html
- https://scikit-learn.org/stable/auto_examples/decomposition/plot_kernel_pca.html
- https://github.com/YingfanWang/PaCMAP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https://scikit-learn.org/stable/modules/generated/sklearn.decomposition.KernelPCA.html
- https://scikit-learn.org/stable/auto_examples/decomposition/plot_kernel_pca.html
- https://github.com/YingfanWang/PaCMAP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0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https://scikit-learn.org/stable/modules/generated/sklearn.metrics.f1_score.html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신용카드 사기 거래 탐지 AI 경진대회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Score 1등 솔루션 분석 &amp; 재현 파이프라인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5852160" cy="1417320"/>
          </a:xfrm>
          <a:prstGeom prst="roundRect">
            <a:avLst/>
          </a:prstGeom>
          <a:solidFill>
            <a:srgbClr val="101B3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90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조합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Selection (30→7~8)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PaCMAP + IsolationForest (앙상블)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KernelPCA + PaCMAP 기반 Fake-outlier Voting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(</a:t>
            </a:r>
            <a:r>
              <a:rPr lang="ko-KR" alt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구동한</a:t>
            </a: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|   날짜: (2026-01-05)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규칙/제약 요약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5715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075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데이터/학습 제한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Train: 라벨 없음(대부분 정상) →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/>
              <a:t>비지도</a:t>
            </a:r>
            <a:r>
              <a:rPr lang="en-US" altLang="ko-KR" sz="1200" dirty="0"/>
              <a:t>/</a:t>
            </a:r>
            <a:r>
              <a:rPr lang="ko-KR" altLang="en-US" sz="1200" dirty="0"/>
              <a:t>이상탐지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라벨 포함 BUT “모델 학습 input으로 사용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금지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Test: infer만 가능(학습/튜닝 금지)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5715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8503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지표의 함정: Macro F1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87368"/>
            <a:ext cx="5257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클래스별 F1을 각각 계산 후 평균(가중치 없음)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오탐(FP)이 늘면 “정상(0) F1”이 무너져 점수 급락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따라서 “사기 후보를 많이 뽑기”보다 “가짜 outlier 제거”가 중요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143000"/>
            <a:ext cx="5059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32588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준수 설계 원칙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8308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69480" y="1801368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fit()은 Train(또는 Train-outlier subset)만 사용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860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2304288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Val은 통계/평가/컷 선택(튜닝)만 사용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889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69480" y="2807208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Test는 inference만 수행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918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310128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Train+Val 합쳐서 학습(직접 input)하면 규정 위반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58368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Val은 “학습 input”으로만 금지, 평가/통계 활용은 허용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53949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075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&amp; 크기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train.csv: 113,842 rows (Unlabeled)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val.csv: 28,462 rows (Class 포함)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test.csv: 142,503 rows (Unlabeled)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Feature: V1 ~ V30 (비식별화)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188720"/>
            <a:ext cx="5425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행(row) 수 비교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263640" y="1600200"/>
          <a:ext cx="5425135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032504"/>
            <a:ext cx="11185855" cy="23225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355627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스키마(공통)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684811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(거래ID)  |  V1~V30 (비식별화 Feature)  |  Class (val에만 존재: 0=정상, 1=사기)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5206019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목표: train의 “정상 구조”를 학습해 test에서 이상치를 탐지하고, Macro F1을 최대화하는 임계값/후처리를 설계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재정의: 비지도 이상탐지 + Macro F1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66928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F1이 의미하는 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클래스별 F1을 각각 계산 후 단순 평균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사기(1)만 잘 맞춰도 “정상(0) F1”이 떨어지면 전체 점수 하락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따라서 목표는 “Recall 확보 → FP 제거로 Precision 방어”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528797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223423"/>
            <a:ext cx="5059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오탐(FP)이 치명적인 이유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1426685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89720" y="1426685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16916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3774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91640"/>
            <a:ext cx="123444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8562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1234440" cy="685800"/>
          </a:xfrm>
          <a:prstGeom prst="rect">
            <a:avLst/>
          </a:prstGeom>
          <a:solidFill>
            <a:srgbClr val="FFEBE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8562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2377440"/>
            <a:ext cx="123444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5420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89720" y="2377440"/>
            <a:ext cx="123444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5420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063240"/>
            <a:ext cx="5059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FP(정상→사기)↑ → 정상 클래스 F1 급락 → Macro F1 급락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11185855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605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설계 목표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52628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가능한 많은 “진짜 사기 후보”를 outlier pool로 모으고(Recall 확보)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그 pool 내부에서 “가짜 outlier(FP)”를 강하게 제거(Precision 방어)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솔루션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“후보 생성”과 “후보 정제”를 분리한다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625014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002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5925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필터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Rank-sum(Val)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FRUFS(Train)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 1개 추가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3654" y="2464308"/>
            <a:ext cx="137160" cy="329184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6534" y="1463040"/>
            <a:ext cx="2625014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9414" y="16002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생성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9414" y="2011680"/>
            <a:ext cx="225925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 임베딩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앙상블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7268" y="2464308"/>
            <a:ext cx="137160" cy="329184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0148" y="1463040"/>
            <a:ext cx="2625014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16002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Pool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3028" y="2011680"/>
            <a:ext cx="225925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1개 추가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PaCMAP+IF 7회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Outlier만 추출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80881" y="2464308"/>
            <a:ext cx="137160" cy="329184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3761" y="1463040"/>
            <a:ext cx="2625014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46641" y="16002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Fake-outlier 제거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46641" y="2011680"/>
            <a:ext cx="225925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KernelPCA(RBF)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 재임베딩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극단값 컷 선택</a:t>
            </a:r>
            <a:endParaRPr lang="en-US" sz="12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201회 Voting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85855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61104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90288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test.csv 전체에 대해 Class(0/1) 예측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핵심 성능 향상 포인트: Step 3에서 FP를 줄여 Macro F1을 끌어올림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3949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Rule-safe: 모든 “fit()”은 Train(또는 Train-outlier subset)만 사용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altLang="ko-KR" sz="1200" dirty="0" err="1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</a:t>
            </a:r>
            <a:r>
              <a:rPr lang="en-US" altLang="ko-KR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alt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altLang="ko-K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8508"/>
            <a:ext cx="5715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 로딩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train_df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train.csv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val_df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피처만 분리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ori_val_df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포함해 보관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</a:t>
            </a:r>
          </a:p>
          <a:p>
            <a:pPr marL="0" indent="0">
              <a:buNone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학습은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“통계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평가”에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쓰기 위해 분리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571500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8503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/>
              <a:t>피처 선택 파트가 왜 이렇게 중요한가</a:t>
            </a:r>
            <a:r>
              <a:rPr lang="en-US" altLang="ko-KR" sz="1400" b="1" dirty="0"/>
              <a:t>?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4087368"/>
            <a:ext cx="5257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대회는 “라벨 없는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train”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이라서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30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피처를 그대로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넣으면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클러스터 구조가 복잡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피처 섞임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이상치 점수를 “엉뚱한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축”에서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크게 받아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늘기 쉬움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피처를 먼저 좁혀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원인을 제거합니다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143000"/>
            <a:ext cx="50593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32588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b="1" dirty="0" err="1"/>
              <a:t>IsolationForest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출력 라벨 변환</a:t>
            </a:r>
            <a:endParaRPr lang="en-US" sz="1600" b="1" dirty="0"/>
          </a:p>
        </p:txBody>
      </p:sp>
      <p:sp>
        <p:nvSpPr>
          <p:cNvPr id="22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1DBA51D-FB87-4EC5-8D77-9E52CEC0EECF}"/>
              </a:ext>
            </a:extLst>
          </p:cNvPr>
          <p:cNvSpPr/>
          <p:nvPr/>
        </p:nvSpPr>
        <p:spPr>
          <a:xfrm>
            <a:off x="6858000" y="1651428"/>
            <a:ext cx="4602480" cy="3834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(inlier) = 1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(outlier) = -1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get_pred_label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0(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→ 1(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후보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변환은 이후 모든 단계에서 공통으로 사용된다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iqr_outlier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IQR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(1.5*IQR)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계산해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판단용 하한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 생성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비율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경계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정하는 파라미터입니다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contamination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올리면 “더 많이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찍고”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내리면 “더 적게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찍습니다”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2921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Feature Selection (30 → 7~8)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760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IQR 필터 (Val </a:t>
            </a:r>
            <a:r>
              <a:rPr 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</a:t>
            </a: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: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“사기 중앙값이 정상 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밖으로 나가는가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정상(0)의 IQR 범위를 계산</a:t>
            </a:r>
            <a:endParaRPr lang="en-US" sz="1200" dirty="0"/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각 피처별로 </a:t>
            </a:r>
            <a:r>
              <a:rPr lang="en-US" altLang="ko-KR" sz="1200" dirty="0" err="1"/>
              <a:t>val</a:t>
            </a:r>
            <a:r>
              <a:rPr lang="ko-KR" altLang="en-US" sz="1200" dirty="0"/>
              <a:t>에서 정상</a:t>
            </a:r>
            <a:r>
              <a:rPr lang="en-US" altLang="ko-KR" sz="1200" dirty="0"/>
              <a:t>/</a:t>
            </a:r>
            <a:r>
              <a:rPr lang="ko-KR" altLang="en-US" sz="1200" dirty="0"/>
              <a:t>사기 분포를 봤을 때</a:t>
            </a:r>
            <a:r>
              <a:rPr lang="en-US" altLang="ko-KR" sz="1200" dirty="0"/>
              <a:t>,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사기</a:t>
            </a:r>
            <a:r>
              <a:rPr lang="en-US" altLang="ko-KR" sz="1200" dirty="0"/>
              <a:t>(outlier)</a:t>
            </a:r>
            <a:r>
              <a:rPr lang="ko-KR" altLang="en-US" sz="1200" dirty="0"/>
              <a:t>의 중앙값</a:t>
            </a:r>
            <a:r>
              <a:rPr lang="en-US" altLang="ko-KR" sz="1200" dirty="0"/>
              <a:t>(median)</a:t>
            </a:r>
            <a:r>
              <a:rPr lang="ko-KR" altLang="en-US" sz="1200" dirty="0"/>
              <a:t>이 정상 범위</a:t>
            </a:r>
            <a:r>
              <a:rPr lang="en-US" altLang="ko-KR" sz="1200" dirty="0"/>
              <a:t>(IQR </a:t>
            </a:r>
            <a:r>
              <a:rPr lang="ko-KR" altLang="en-US" sz="1200" dirty="0"/>
              <a:t>경계</a:t>
            </a:r>
            <a:r>
              <a:rPr lang="en-US" altLang="ko-KR" sz="1200" dirty="0"/>
              <a:t>) </a:t>
            </a:r>
            <a:r>
              <a:rPr lang="ko-KR" altLang="en-US" sz="1200" dirty="0"/>
              <a:t>안에 있으면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/>
              <a:t>→ 그 피처는 사기 </a:t>
            </a:r>
            <a:r>
              <a:rPr lang="ko-KR" altLang="en-US" sz="1200" dirty="0" err="1"/>
              <a:t>판별력이</a:t>
            </a:r>
            <a:r>
              <a:rPr lang="ko-KR" altLang="en-US" sz="1200" dirty="0"/>
              <a:t> 약하다고 보고 제외</a:t>
            </a:r>
            <a:endParaRPr lang="en-US" altLang="ko-KR" sz="1200" dirty="0"/>
          </a:p>
          <a:p>
            <a:pPr marL="0" indent="0">
              <a:lnSpc>
                <a:spcPct val="110000"/>
              </a:lnSpc>
              <a:buNone/>
            </a:pPr>
            <a:endParaRPr lang="ko-KR" alt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/>
              <a:t>즉 “사기들이 정상 범위 밖으로 튀는 </a:t>
            </a:r>
            <a:r>
              <a:rPr lang="ko-KR" altLang="en-US" sz="1200" dirty="0" err="1"/>
              <a:t>축”을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차로 남깁니다</a:t>
            </a:r>
            <a:r>
              <a:rPr lang="en-US" altLang="ko-KR" sz="1200" dirty="0"/>
              <a:t>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목적: 노이즈 피처 제거 → FP 감소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424097"/>
            <a:ext cx="11185855" cy="308643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547" y="3566160"/>
            <a:ext cx="97934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first_variation_selection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how_many_var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new_var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what_val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how_many_var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iqr_outlier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what_val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.iloc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.where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'Class'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)].quantile(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what_val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iqr_outlier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dfdfdf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what_val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]):</a:t>
            </a: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new_var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what_val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new_var</a:t>
            </a:r>
            <a:endParaRPr lang="en-US" altLang="ko-K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2C339D8-0DD7-4145-9FB9-1623761A3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678" y="1946875"/>
            <a:ext cx="3467584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Feature Selection (30 → 7~8)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5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19" y="1097281"/>
            <a:ext cx="8442777" cy="280735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Rank-sum + FRUFS </a:t>
            </a:r>
            <a:r>
              <a:rPr lang="en-US" altLang="ko-KR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</a:t>
            </a:r>
            <a:endParaRPr lang="en-US" altLang="ko-KR" sz="1400" dirty="0"/>
          </a:p>
        </p:txBody>
      </p:sp>
      <p:sp>
        <p:nvSpPr>
          <p:cNvPr id="8" name="Text 6"/>
          <p:cNvSpPr/>
          <p:nvPr/>
        </p:nvSpPr>
        <p:spPr>
          <a:xfrm>
            <a:off x="731519" y="1664208"/>
            <a:ext cx="7772714" cy="2156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Wilcoxon rank-sum p-value (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기반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정상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분포가 통계적으로 가장 다르다고 볼 수 있는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차이가 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피처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5)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뽑음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FRUFS (train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없이 가능한 비지도 피처 선택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FRUFS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“각 피처를 나머지 피처로 잘 예측할 수 있으면 중요” 같은 관점으로 대표 피처를 뽑는 비지도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기반 선택만 쓰면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위험이 있으니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train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구조를 대표하는 축을 같이 섞어 일반화를 확보합니다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최종적으로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(rank-sum top5) ∪ (FRUFS top5) = 7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피처</a:t>
            </a:r>
            <a:endParaRPr lang="en-US" altLang="ko-KR" sz="12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1DF31C3-6A47-4B5B-8DD0-C0433C0555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673"/>
          <a:stretch/>
        </p:blipFill>
        <p:spPr>
          <a:xfrm>
            <a:off x="9030762" y="1920098"/>
            <a:ext cx="2779320" cy="11617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47878D1-E22C-4D2C-A353-AB7FA65F1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3" y="3950359"/>
            <a:ext cx="10880174" cy="288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5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Feature Selection (30 → 7~8)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5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1095756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contamination(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비율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추정과 “조정”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00879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val_fraud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val_normal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계산하고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실제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contamination=0.00121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사용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민감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높게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낮게 움직여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FP/FN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균형을 맞춤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보다 조금 높은 수치 사용”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95805F-E662-4B5D-8A09-4DEFC7DB0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96" y="3783834"/>
            <a:ext cx="6393088" cy="19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1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F105F33-C02F-4B3D-8264-E0227CDF6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572"/>
            <a:ext cx="8188490" cy="532720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PaCMAP + IsolationForest (앙상블)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22415" y="1520328"/>
            <a:ext cx="5669280" cy="53272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51015" y="1748907"/>
            <a:ext cx="5212080" cy="327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 예측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51015" y="2099778"/>
            <a:ext cx="5212080" cy="4747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로직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hhmm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=3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 반복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반복마다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85800" lvl="1" indent="-2286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="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</a:t>
            </a:r>
          </a:p>
          <a:p>
            <a:pPr marL="685800" lvl="1" indent="-2286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transform(..., basis=train)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같은 좌표계로 변환</a:t>
            </a:r>
          </a:p>
          <a:p>
            <a:pPr marL="685800" lvl="1" indent="-22860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공간에서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</a:p>
          <a:p>
            <a:pPr marL="685800" lvl="1" indent="-22860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예측을 누적해서 평균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로컬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구조를 같이 보존하는 방식의 차원축소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랜덤성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때문에 반복 앙상블을 하는데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랜덤성이 강해서 결과가 잘 안 나올 수 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 포인트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차원 중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[1,2,3]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사용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pacmac_train_1[:, [1,2,3]]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“피처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개수”로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잡혀 있는데 실제 학습은 그중 일부 좌표만 사용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 의도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축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전체 분산을 크게 먹는 “일반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구조”일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있고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분리는 오히려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 축에서 더 잘 되는 경험적 선택일 가능성이 큽니다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9500" y="6326325"/>
            <a:ext cx="5059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랜덤성(PaCMAP/IF)을 평균화 → 예측 안정화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PaCMAP + IsolationForest (앙상블)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720" y="1097280"/>
            <a:ext cx="5669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PaCMAP인가?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t-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u-map, tri-map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같이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유지하면서 차원 축소 방법론이다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PaCMAP: 로컬+글로벌 구조를 함께 보존하도록 설계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ko-KR" altLang="en-US" sz="1200" dirty="0"/>
              <a:t>정상 구조와 이상 구조가 저차원에서 더 분리되도록 만든다</a:t>
            </a:r>
            <a:r>
              <a:rPr lang="en-US" altLang="ko-KR" sz="12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공간에서 outlier가 더 “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고립”되도록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유도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56692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8221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포인트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24528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랜덤 분할로 샘플을 빠르게 “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고립”시키면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</a:t>
            </a:r>
            <a:endParaRPr 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/>
              <a:t>정상 프로파일링 대신 “고립되는 </a:t>
            </a:r>
            <a:r>
              <a:rPr lang="ko-KR" altLang="en-US" sz="1200" dirty="0" err="1"/>
              <a:t>속도”로</a:t>
            </a:r>
            <a:r>
              <a:rPr lang="ko-KR" altLang="en-US" sz="1200" dirty="0"/>
              <a:t> </a:t>
            </a:r>
            <a:r>
              <a:rPr lang="en-US" altLang="ko-KR" sz="1200" dirty="0"/>
              <a:t>outlier </a:t>
            </a:r>
            <a:r>
              <a:rPr lang="ko-KR" altLang="en-US" sz="1200" dirty="0"/>
              <a:t>탐지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하지만 고차원</a:t>
            </a:r>
            <a:r>
              <a:rPr lang="en-US" altLang="ko-KR" sz="1200" dirty="0"/>
              <a:t>(30</a:t>
            </a:r>
            <a:r>
              <a:rPr lang="ko-KR" altLang="en-US" sz="1200" dirty="0"/>
              <a:t>차원</a:t>
            </a:r>
            <a:r>
              <a:rPr lang="en-US" altLang="ko-KR" sz="1200" dirty="0"/>
              <a:t>) + </a:t>
            </a:r>
            <a:r>
              <a:rPr lang="ko-KR" altLang="en-US" sz="1200" dirty="0"/>
              <a:t>노이즈 피처가 섞이면</a:t>
            </a:r>
            <a:r>
              <a:rPr lang="en-US" altLang="ko-KR" sz="1200" dirty="0"/>
              <a:t>, </a:t>
            </a:r>
            <a:r>
              <a:rPr lang="ko-KR" altLang="en-US" sz="1200" dirty="0"/>
              <a:t>랜덤 분할이 의미 없는 축에서 고립을 만들어 </a:t>
            </a:r>
            <a:r>
              <a:rPr lang="en-US" altLang="ko-KR" sz="1200" dirty="0"/>
              <a:t>FP</a:t>
            </a:r>
            <a:r>
              <a:rPr lang="ko-KR" altLang="en-US" sz="1200" dirty="0"/>
              <a:t>가 늘기 쉽다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1629B97-1558-4E57-AEEC-42166AED0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48640"/>
            <a:ext cx="6095695" cy="574437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64D8B10-512E-4E41-81DF-267759B88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14" y="2825588"/>
            <a:ext cx="3733066" cy="208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5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재앙상블(7회) &amp; Outlier Pool 생성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352" y="493776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669280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 예측 준비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피처 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개”를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매우 보수적으로 선택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5212080" cy="29738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altLang="ko-KR" sz="12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inside_in_inlier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min~max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정상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min~max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안쪽에 들어가는 피처를 찾음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극단값만으로는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분리 안 되는 “어려운 피처 후보군”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후보군에서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차이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 꼬리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(quantile)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점수 등을 계산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각각 상위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후보를 뽑고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교집합으로 최종 후보를 결정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(set(old) &amp; set(left) &amp; set(right))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이유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기반으로 피처를 늘리면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위험이 커지는데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합의된 피처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)”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추가해서 안전하게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개만 더 늘린다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피처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4800600"/>
            <a:ext cx="5059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Step 3에서 강하게 FP를 제거해 Macro F1 최적화</a:t>
            </a:r>
            <a:endParaRPr lang="en-US" sz="13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04B9266-E8AF-4430-AFDB-E28DA8105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890" y="1731083"/>
            <a:ext cx="4715533" cy="40296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B0AC42D-7651-446F-81B3-A78348915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52" y="1097280"/>
            <a:ext cx="5867096" cy="526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재앙상블(7회) &amp; Outlier Pool 생성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669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altLang="ko-KR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PaCMAP+IF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더 강하게 앙상블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hhmm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=7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반복 수를 늘림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num_iters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설정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차는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이었음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동일하게 예측 평균 →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여기까지가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“사기 후보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(pool)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만드는 단계”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56692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83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Pool의 의미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885424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pred=1로 찍힌 샘플만 모아 별도 데이터셋 구성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이후 단계는 “이 pool 안에서 FP 제거”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문제로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4800600"/>
            <a:ext cx="5059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Step 3에서 강하게 FP를 제거해 Macro F1 최적화</a:t>
            </a:r>
            <a:endParaRPr lang="en-US" sz="13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F50DADC-91F7-486A-9F94-1F2ECFF08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6300"/>
            <a:ext cx="9910600" cy="214884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1967797-9089-4C53-A063-4401F630F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664" y="3875558"/>
            <a:ext cx="4201111" cy="2353003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C2E153B8-452F-4C04-AF80-3D18B8E10AD9}"/>
              </a:ext>
            </a:extLst>
          </p:cNvPr>
          <p:cNvSpPr/>
          <p:nvPr/>
        </p:nvSpPr>
        <p:spPr>
          <a:xfrm>
            <a:off x="662940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한 번 더 돌리나?</a:t>
            </a:r>
            <a:endParaRPr lang="en-US" sz="14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DB9E1353-AC5A-46ED-842B-E0B1F71F9A9E}"/>
              </a:ext>
            </a:extLst>
          </p:cNvPr>
          <p:cNvSpPr/>
          <p:nvPr/>
        </p:nvSpPr>
        <p:spPr>
          <a:xfrm>
            <a:off x="6629400" y="1664208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1은 “괜찮은 후보” 수준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2는 피처 1개를 보수적으로 추가하고 반복 수를 늘려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outlier 후보를 더 안정적으로 모음(Recall 확보)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22468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Fake-outlier 제거(핵심): KernelPCA + Voting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Outlier Pool 안에서 “정상처럼 보이는 샘플(FP)”을 제거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19" y="1386776"/>
            <a:ext cx="5242561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81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outlier subset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따로 떼기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84248"/>
            <a:ext cx="46032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one_train_df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one_val_df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one_test_df</a:t>
            </a: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“2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 예측에서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찍힌 것만 모은 데이터”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“outlier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풀”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문제는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집합에는 진짜 사기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섞여 있음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올리려면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줄여야 함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정상 클래스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19" y="1419083"/>
            <a:ext cx="52422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83675"/>
            <a:ext cx="460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내부에서 다시 잘 갈리는 피처 찾기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986011"/>
            <a:ext cx="460295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subset(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one_val_df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정상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분리도가 강한 피처를 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ranksum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p-value,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등으로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재탐색</a:t>
            </a: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ko-KR" altLang="en-US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new_born_idx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추가 피처 인덱스를 도출</a:t>
            </a:r>
            <a:endParaRPr 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F99353F-F239-454D-B4A8-0D3BCB12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716" y="3705083"/>
            <a:ext cx="9561454" cy="3154680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6594805" y="6155675"/>
            <a:ext cx="46821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효과: FP(가짜 outlier)↓ → 정상(0) F1 회복 → Macro F1 상승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세부 방법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Fake-outlier 제거(핵심): KernelPCA + Voting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-22034" y="537623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Outlier Pool 안에서 “정상처럼 보이는 샘플(FP)”을 제거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1" y="1386776"/>
            <a:ext cx="5242561" cy="137845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81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altLang="ko-KR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KernelPCA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비선형 구조 펼치기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84248"/>
            <a:ext cx="460322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KernelPCA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커널 트릭으로 비선형 구조를 저차원에서 더 분리되게 만들 때 쓰인다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여기선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군집을 “펴서”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FP/TP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나눌 의도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44773"/>
            <a:ext cx="5242255" cy="386124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1" y="3009366"/>
            <a:ext cx="460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</a:t>
            </a:r>
            <a:r>
              <a:rPr lang="en-US" altLang="ko-KR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ko-KR" altLang="en-US" sz="1400" b="1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극단값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규칙 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voting(201</a:t>
            </a:r>
            <a:r>
              <a:rPr lang="ko-KR" alt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</a:t>
            </a:r>
            <a:r>
              <a:rPr lang="en-US" altLang="ko-KR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1" y="3312548"/>
            <a:ext cx="4602956" cy="3277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hhmm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=201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반복에서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28650" lvl="1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다시 수행하고</a:t>
            </a:r>
          </a:p>
          <a:p>
            <a:pPr marL="628650" lvl="1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축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)×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6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개에서 **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사기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기준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극단값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(quantile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)**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이용해</a:t>
            </a:r>
          </a:p>
          <a:p>
            <a:pPr marL="628650" lvl="1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진짜 </a:t>
            </a:r>
            <a:r>
              <a:rPr lang="ko-KR" altLang="en-US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같은지”를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재판정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마지막에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&gt;=50%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 유지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아니면 제거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0E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이유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/IF/</a:t>
            </a:r>
            <a:r>
              <a:rPr lang="en-US" altLang="ko-KR" sz="1200" dirty="0" err="1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KernelPCA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모두 랜덤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요소가 있어 단발이면 불안정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“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찍힌 것 중 일관되게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처럼 보이는 샘플만 남김”</a:t>
            </a:r>
          </a:p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감소 → </a:t>
            </a:r>
            <a:r>
              <a:rPr lang="en-US" altLang="ko-KR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</a:t>
            </a:r>
            <a:r>
              <a:rPr lang="ko-KR" alt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</a:t>
            </a:r>
            <a:endParaRPr lang="en-US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4F5A3E0-21F2-4806-A48F-C584CFCE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783" y="2526073"/>
            <a:ext cx="4486901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13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인사이트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점수를 올렸나? (정성적 Ablation)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12191695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관점에서 “FP를 줄이는 장치”가 누적된 구조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572000" cy="566928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93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추가한 요소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1463040"/>
            <a:ext cx="3017520" cy="566928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609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96335" cy="566928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09344"/>
            <a:ext cx="3322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F1에 미치는 효과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57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IF on 30D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2029968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1579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출발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029968"/>
            <a:ext cx="359633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157984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축 영향 → FP↑(정상F1↓)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596896"/>
            <a:ext cx="45720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 Selection (30→7~8)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2596896"/>
            <a:ext cx="30175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724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분리력 있는 축만 남김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2440" y="2596896"/>
            <a:ext cx="359633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724912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FP↓, 안정성↑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163824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PaCMAP 임베딩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3163824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보존 저차원화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2440" y="3163824"/>
            <a:ext cx="359633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29184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고립 강화 → 후보 품질↑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730752"/>
            <a:ext cx="45720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58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Seed Ensemble (3회→7회)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3730752"/>
            <a:ext cx="30175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858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랜덤성 평균화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440" y="3730752"/>
            <a:ext cx="359633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858768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분산↓, 과적합↓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4297680"/>
            <a:ext cx="4572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256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Fake-outlier Voting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74920" y="4297680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44256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풀 내부 FP 제거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4297680"/>
            <a:ext cx="359633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425696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정상F1 회복 → Macro F1 급상승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4976872"/>
            <a:ext cx="11185855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1323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" y="5461504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“후보 생성(Recall)” 단계와 “후보 정제(Precision)” 단계를 분리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F1 최적화의 본질은 FP를 통제하는 설계(특히 마지막 Voting)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3148</Words>
  <Application>Microsoft Office PowerPoint</Application>
  <PresentationFormat>와이드스크린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DACON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#1 Solution Analysis</dc:title>
  <dc:subject>Credit Card Fraud Detection - Private #1 Solution Analysis</dc:subject>
  <dc:creator>ChatGPT</dc:creator>
  <cp:lastModifiedBy>xrtwin</cp:lastModifiedBy>
  <cp:revision>30</cp:revision>
  <dcterms:created xsi:type="dcterms:W3CDTF">2026-01-04T09:08:45Z</dcterms:created>
  <dcterms:modified xsi:type="dcterms:W3CDTF">2026-01-05T09:27:07Z</dcterms:modified>
</cp:coreProperties>
</file>